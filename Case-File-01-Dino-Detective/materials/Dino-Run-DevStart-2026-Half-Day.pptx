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808c963d5f49a2" /><Relationship Type="http://schemas.openxmlformats.org/officeDocument/2006/relationships/extended-properties" Target="/docProps/app.xml" Id="Rdcc57c4407204876" /><Relationship Type="http://schemas.openxmlformats.org/officeDocument/2006/relationships/officeDocument" Target="/ppt/presentation.xml" Id="R79e808a43bda4a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44bf5dddd742f2"/>
  </p:sldMasterIdLst>
  <p:notesMasterIdLst>
    <p:notesMasterId xmlns:r="http://schemas.openxmlformats.org/officeDocument/2006/relationships" r:id="R612aefcd3403407b"/>
  </p:notesMasterIdLst>
  <p:sldIdLst>
    <p:sldId xmlns:r="http://schemas.openxmlformats.org/officeDocument/2006/relationships" id="256" r:id="Rf9efeee4bf474042"/>
    <p:sldId xmlns:r="http://schemas.openxmlformats.org/officeDocument/2006/relationships" id="257" r:id="R0c4c7870525d46e0"/>
    <p:sldId xmlns:r="http://schemas.openxmlformats.org/officeDocument/2006/relationships" id="258" r:id="Raf307c09695e435f"/>
    <p:sldId xmlns:r="http://schemas.openxmlformats.org/officeDocument/2006/relationships" id="259" r:id="R332e606444404879"/>
    <p:sldId xmlns:r="http://schemas.openxmlformats.org/officeDocument/2006/relationships" id="260" r:id="R7ee6d505898947ee"/>
    <p:sldId xmlns:r="http://schemas.openxmlformats.org/officeDocument/2006/relationships" id="261" r:id="R33703db555b447e4"/>
    <p:sldId xmlns:r="http://schemas.openxmlformats.org/officeDocument/2006/relationships" id="262" r:id="R1732202b01b84b90"/>
    <p:sldId xmlns:r="http://schemas.openxmlformats.org/officeDocument/2006/relationships" id="263" r:id="R5f7b64d4303440fb"/>
    <p:sldId xmlns:r="http://schemas.openxmlformats.org/officeDocument/2006/relationships" id="264" r:id="R34d36b81abc949c1"/>
    <p:sldId xmlns:r="http://schemas.openxmlformats.org/officeDocument/2006/relationships" id="265" r:id="R10bab982160247d5"/>
    <p:sldId xmlns:r="http://schemas.openxmlformats.org/officeDocument/2006/relationships" id="266" r:id="Rf725dc11d68142ea"/>
    <p:sldId xmlns:r="http://schemas.openxmlformats.org/officeDocument/2006/relationships" id="267" r:id="Rd210624c290045bc"/>
    <p:sldId xmlns:r="http://schemas.openxmlformats.org/officeDocument/2006/relationships" id="268" r:id="Rf91b2ffc017f431b"/>
    <p:sldId xmlns:r="http://schemas.openxmlformats.org/officeDocument/2006/relationships" id="269" r:id="R8b2a3088ce804ffd"/>
    <p:sldId xmlns:r="http://schemas.openxmlformats.org/officeDocument/2006/relationships" id="270" r:id="R56510679db4a42af"/>
    <p:sldId xmlns:r="http://schemas.openxmlformats.org/officeDocument/2006/relationships" id="271" r:id="R87597768311b4206"/>
    <p:sldId xmlns:r="http://schemas.openxmlformats.org/officeDocument/2006/relationships" id="272" r:id="Rac1a63cd340949f2"/>
    <p:sldId xmlns:r="http://schemas.openxmlformats.org/officeDocument/2006/relationships" id="273" r:id="Rd22168127d604468"/>
    <p:sldId xmlns:r="http://schemas.openxmlformats.org/officeDocument/2006/relationships" id="274" r:id="Rd7c611c452854cc8"/>
    <p:sldId xmlns:r="http://schemas.openxmlformats.org/officeDocument/2006/relationships" id="275" r:id="R17ce96ea16d24ad4"/>
    <p:sldId xmlns:r="http://schemas.openxmlformats.org/officeDocument/2006/relationships" id="276" r:id="R27371e14da6e4e34"/>
    <p:sldId xmlns:r="http://schemas.openxmlformats.org/officeDocument/2006/relationships" id="277" r:id="R7f9d3e8468824f6e"/>
    <p:sldId xmlns:r="http://schemas.openxmlformats.org/officeDocument/2006/relationships" id="278" r:id="Rb6d7e35c38b14fd2"/>
    <p:sldId xmlns:r="http://schemas.openxmlformats.org/officeDocument/2006/relationships" id="279" r:id="R221bb0837a6c44f3"/>
    <p:sldId xmlns:r="http://schemas.openxmlformats.org/officeDocument/2006/relationships" id="280" r:id="R117e6f8701694ad8"/>
    <p:sldId xmlns:r="http://schemas.openxmlformats.org/officeDocument/2006/relationships" id="281" r:id="R030a0f5362854c14"/>
    <p:sldId xmlns:r="http://schemas.openxmlformats.org/officeDocument/2006/relationships" id="282" r:id="R6398c93fb726417d"/>
    <p:sldId xmlns:r="http://schemas.openxmlformats.org/officeDocument/2006/relationships" id="283" r:id="Rfc1ad132f280449d"/>
    <p:sldId xmlns:r="http://schemas.openxmlformats.org/officeDocument/2006/relationships" id="284" r:id="Ra2eb6d5598dd4242"/>
    <p:sldId xmlns:r="http://schemas.openxmlformats.org/officeDocument/2006/relationships" id="285" r:id="R2b7f6d1200be45ff"/>
    <p:sldId xmlns:r="http://schemas.openxmlformats.org/officeDocument/2006/relationships" id="286" r:id="Rb85a0dc49dbc40fa"/>
    <p:sldId xmlns:r="http://schemas.openxmlformats.org/officeDocument/2006/relationships" id="287" r:id="R8404e4e0798342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b6176e132d4e66" /><Relationship Type="http://schemas.openxmlformats.org/officeDocument/2006/relationships/slideMaster" Target="/ppt/slideMasters/slideMaster1.xml" Id="Rf744bf5dddd742f2" /><Relationship Type="http://schemas.openxmlformats.org/officeDocument/2006/relationships/notesMaster" Target="/ppt/notesMasters/notesMaster1.xml" Id="R612aefcd3403407b" /><Relationship Type="http://schemas.openxmlformats.org/officeDocument/2006/relationships/presProps" Target="/ppt/presProps.xml" Id="R362b8fbfd6454665" /><Relationship Type="http://schemas.openxmlformats.org/officeDocument/2006/relationships/tableStyles" Target="/ppt/tableStyles.xml" Id="R2a6017d04c8d48ec" /><Relationship Type="http://schemas.openxmlformats.org/officeDocument/2006/relationships/slide" Target="/ppt/slides/slide1.xml" Id="Rf9efeee4bf474042" /><Relationship Type="http://schemas.openxmlformats.org/officeDocument/2006/relationships/slide" Target="/ppt/slides/slide2.xml" Id="R0c4c7870525d46e0" /><Relationship Type="http://schemas.openxmlformats.org/officeDocument/2006/relationships/slide" Target="/ppt/slides/slide3.xml" Id="Raf307c09695e435f" /><Relationship Type="http://schemas.openxmlformats.org/officeDocument/2006/relationships/slide" Target="/ppt/slides/slide4.xml" Id="R332e606444404879" /><Relationship Type="http://schemas.openxmlformats.org/officeDocument/2006/relationships/slide" Target="/ppt/slides/slide5.xml" Id="R7ee6d505898947ee" /><Relationship Type="http://schemas.openxmlformats.org/officeDocument/2006/relationships/slide" Target="/ppt/slides/slide6.xml" Id="R33703db555b447e4" /><Relationship Type="http://schemas.openxmlformats.org/officeDocument/2006/relationships/slide" Target="/ppt/slides/slide7.xml" Id="R1732202b01b84b90" /><Relationship Type="http://schemas.openxmlformats.org/officeDocument/2006/relationships/slide" Target="/ppt/slides/slide8.xml" Id="R5f7b64d4303440fb" /><Relationship Type="http://schemas.openxmlformats.org/officeDocument/2006/relationships/slide" Target="/ppt/slides/slide9.xml" Id="R34d36b81abc949c1" /><Relationship Type="http://schemas.openxmlformats.org/officeDocument/2006/relationships/slide" Target="/ppt/slides/slide10.xml" Id="R10bab982160247d5" /><Relationship Type="http://schemas.openxmlformats.org/officeDocument/2006/relationships/slide" Target="/ppt/slides/slide11.xml" Id="Rf725dc11d68142ea" /><Relationship Type="http://schemas.openxmlformats.org/officeDocument/2006/relationships/slide" Target="/ppt/slides/slide12.xml" Id="Rd210624c290045bc" /><Relationship Type="http://schemas.openxmlformats.org/officeDocument/2006/relationships/slide" Target="/ppt/slides/slide13.xml" Id="Rf91b2ffc017f431b" /><Relationship Type="http://schemas.openxmlformats.org/officeDocument/2006/relationships/slide" Target="/ppt/slides/slide14.xml" Id="R8b2a3088ce804ffd" /><Relationship Type="http://schemas.openxmlformats.org/officeDocument/2006/relationships/slide" Target="/ppt/slides/slide15.xml" Id="R56510679db4a42af" /><Relationship Type="http://schemas.openxmlformats.org/officeDocument/2006/relationships/slide" Target="/ppt/slides/slide16.xml" Id="R87597768311b4206" /><Relationship Type="http://schemas.openxmlformats.org/officeDocument/2006/relationships/slide" Target="/ppt/slides/slide17.xml" Id="Rac1a63cd340949f2" /><Relationship Type="http://schemas.openxmlformats.org/officeDocument/2006/relationships/slide" Target="/ppt/slides/slide18.xml" Id="Rd22168127d604468" /><Relationship Type="http://schemas.openxmlformats.org/officeDocument/2006/relationships/slide" Target="/ppt/slides/slide19.xml" Id="Rd7c611c452854cc8" /><Relationship Type="http://schemas.openxmlformats.org/officeDocument/2006/relationships/slide" Target="/ppt/slides/slide20.xml" Id="R17ce96ea16d24ad4" /><Relationship Type="http://schemas.openxmlformats.org/officeDocument/2006/relationships/slide" Target="/ppt/slides/slide21.xml" Id="R27371e14da6e4e34" /><Relationship Type="http://schemas.openxmlformats.org/officeDocument/2006/relationships/slide" Target="/ppt/slides/slide22.xml" Id="R7f9d3e8468824f6e" /><Relationship Type="http://schemas.openxmlformats.org/officeDocument/2006/relationships/slide" Target="/ppt/slides/slide23.xml" Id="Rb6d7e35c38b14fd2" /><Relationship Type="http://schemas.openxmlformats.org/officeDocument/2006/relationships/slide" Target="/ppt/slides/slide24.xml" Id="R221bb0837a6c44f3" /><Relationship Type="http://schemas.openxmlformats.org/officeDocument/2006/relationships/slide" Target="/ppt/slides/slide25.xml" Id="R117e6f8701694ad8" /><Relationship Type="http://schemas.openxmlformats.org/officeDocument/2006/relationships/slide" Target="/ppt/slides/slide26.xml" Id="R030a0f5362854c14" /><Relationship Type="http://schemas.openxmlformats.org/officeDocument/2006/relationships/slide" Target="/ppt/slides/slide27.xml" Id="R6398c93fb726417d" /><Relationship Type="http://schemas.openxmlformats.org/officeDocument/2006/relationships/slide" Target="/ppt/slides/slide28.xml" Id="Rfc1ad132f280449d" /><Relationship Type="http://schemas.openxmlformats.org/officeDocument/2006/relationships/slide" Target="/ppt/slides/slide29.xml" Id="Ra2eb6d5598dd4242" /><Relationship Type="http://schemas.openxmlformats.org/officeDocument/2006/relationships/slide" Target="/ppt/slides/slide30.xml" Id="R2b7f6d1200be45ff" /><Relationship Type="http://schemas.openxmlformats.org/officeDocument/2006/relationships/slide" Target="/ppt/slides/slide31.xml" Id="Rb85a0dc49dbc40fa" /><Relationship Type="http://schemas.openxmlformats.org/officeDocument/2006/relationships/slide" Target="/ppt/slides/slide32.xml" Id="R8404e4e0798342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3da1a41e5843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e420fa93054b5a" /><Relationship Type="http://schemas.openxmlformats.org/officeDocument/2006/relationships/notesMaster" Target="/ppt/notesMasters/notesMaster1.xml" Id="R0ec2bb21626747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ad603fcda146f5" /><Relationship Type="http://schemas.openxmlformats.org/officeDocument/2006/relationships/notesMaster" Target="/ppt/notesMasters/notesMaster1.xml" Id="Rc92bde209c2642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e909772a644353" /><Relationship Type="http://schemas.openxmlformats.org/officeDocument/2006/relationships/notesMaster" Target="/ppt/notesMasters/notesMaster1.xml" Id="R4a6efcc7b1ed4a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06b683167946f8" /><Relationship Type="http://schemas.openxmlformats.org/officeDocument/2006/relationships/notesMaster" Target="/ppt/notesMasters/notesMaster1.xml" Id="Rb3583f09fa0c45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13e6413de6430e" /><Relationship Type="http://schemas.openxmlformats.org/officeDocument/2006/relationships/notesMaster" Target="/ppt/notesMasters/notesMaster1.xml" Id="R3b3adccecb2e4c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c6ade8dd5d4271" /><Relationship Type="http://schemas.openxmlformats.org/officeDocument/2006/relationships/notesMaster" Target="/ppt/notesMasters/notesMaster1.xml" Id="R0eb6161ac17548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bacbe3a39f4357" /><Relationship Type="http://schemas.openxmlformats.org/officeDocument/2006/relationships/notesMaster" Target="/ppt/notesMasters/notesMaster1.xml" Id="Rbb696a89eede48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a50a8888854f59" /><Relationship Type="http://schemas.openxmlformats.org/officeDocument/2006/relationships/notesMaster" Target="/ppt/notesMasters/notesMaster1.xml" Id="R5c18f06d67e842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29236a24b94415" /><Relationship Type="http://schemas.openxmlformats.org/officeDocument/2006/relationships/notesMaster" Target="/ppt/notesMasters/notesMaster1.xml" Id="Rc8618ce256084b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1b6a6f2fe148e9" /><Relationship Type="http://schemas.openxmlformats.org/officeDocument/2006/relationships/notesMaster" Target="/ppt/notesMasters/notesMaster1.xml" Id="R00724f18012441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f0f9cc34d14e3e" /><Relationship Type="http://schemas.openxmlformats.org/officeDocument/2006/relationships/notesMaster" Target="/ppt/notesMasters/notesMaster1.xml" Id="Rde285f443f7742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07dbba56a845fc" /><Relationship Type="http://schemas.openxmlformats.org/officeDocument/2006/relationships/notesMaster" Target="/ppt/notesMasters/notesMaster1.xml" Id="R7bf0c70efa3f46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09767270e54613" /><Relationship Type="http://schemas.openxmlformats.org/officeDocument/2006/relationships/notesMaster" Target="/ppt/notesMasters/notesMaster1.xml" Id="R555ccebb050e48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ead15af2164cc7" /><Relationship Type="http://schemas.openxmlformats.org/officeDocument/2006/relationships/notesMaster" Target="/ppt/notesMasters/notesMaster1.xml" Id="Rc14d08b679294a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c6eebd6c644e72" /><Relationship Type="http://schemas.openxmlformats.org/officeDocument/2006/relationships/notesMaster" Target="/ppt/notesMasters/notesMaster1.xml" Id="Ref2b40318ea847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9d5eb0f6c74cd7" /><Relationship Type="http://schemas.openxmlformats.org/officeDocument/2006/relationships/notesMaster" Target="/ppt/notesMasters/notesMaster1.xml" Id="R597b9b9274b449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ef59b28bd848f3" /><Relationship Type="http://schemas.openxmlformats.org/officeDocument/2006/relationships/notesMaster" Target="/ppt/notesMasters/notesMaster1.xml" Id="Rc710a52f87db49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83f1876090456a" /><Relationship Type="http://schemas.openxmlformats.org/officeDocument/2006/relationships/notesMaster" Target="/ppt/notesMasters/notesMaster1.xml" Id="R022dedccebca46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21be282dc4b4f2e" /><Relationship Type="http://schemas.openxmlformats.org/officeDocument/2006/relationships/notesMaster" Target="/ppt/notesMasters/notesMaster1.xml" Id="Rba6723f7a85c49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cc210911e04a3a" /><Relationship Type="http://schemas.openxmlformats.org/officeDocument/2006/relationships/notesMaster" Target="/ppt/notesMasters/notesMaster1.xml" Id="R0b06f14c5d3d46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79cbf4184b84ef9" /><Relationship Type="http://schemas.openxmlformats.org/officeDocument/2006/relationships/notesMaster" Target="/ppt/notesMasters/notesMaster1.xml" Id="Ra6285e63be8f4ab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bea9c2b6c341aa" /><Relationship Type="http://schemas.openxmlformats.org/officeDocument/2006/relationships/notesMaster" Target="/ppt/notesMasters/notesMaster1.xml" Id="Rd17e3ae9a1e94b4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c016627ab794ef7" /><Relationship Type="http://schemas.openxmlformats.org/officeDocument/2006/relationships/notesMaster" Target="/ppt/notesMasters/notesMaster1.xml" Id="R86e352f8411a461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a79a2728944458b" /><Relationship Type="http://schemas.openxmlformats.org/officeDocument/2006/relationships/notesMaster" Target="/ppt/notesMasters/notesMaster1.xml" Id="Re8175e798b6240b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62ae5649e04de0" /><Relationship Type="http://schemas.openxmlformats.org/officeDocument/2006/relationships/notesMaster" Target="/ppt/notesMasters/notesMaster1.xml" Id="Rd4e43f1c9071483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2ca2a34d7514bc7" /><Relationship Type="http://schemas.openxmlformats.org/officeDocument/2006/relationships/notesMaster" Target="/ppt/notesMasters/notesMaster1.xml" Id="R2129e29b2803496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a7e2270ea574179" /><Relationship Type="http://schemas.openxmlformats.org/officeDocument/2006/relationships/notesMaster" Target="/ppt/notesMasters/notesMaster1.xml" Id="R1507ec2a0a0140a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30effc721a04f73" /><Relationship Type="http://schemas.openxmlformats.org/officeDocument/2006/relationships/notesMaster" Target="/ppt/notesMasters/notesMaster1.xml" Id="Rc7c831d45555404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02d06327b954c4f" /><Relationship Type="http://schemas.openxmlformats.org/officeDocument/2006/relationships/notesMaster" Target="/ppt/notesMasters/notesMaster1.xml" Id="R2031f7275f0d48f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8dcad9d43d24908" /><Relationship Type="http://schemas.openxmlformats.org/officeDocument/2006/relationships/notesMaster" Target="/ppt/notesMasters/notesMaster1.xml" Id="R1ca93e84f68047f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25d8db2004b462b" /><Relationship Type="http://schemas.openxmlformats.org/officeDocument/2006/relationships/notesMaster" Target="/ppt/notesMasters/notesMaster1.xml" Id="Rf247973e1ad748b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6b71677f80a4eb1" /><Relationship Type="http://schemas.openxmlformats.org/officeDocument/2006/relationships/notesMaster" Target="/ppt/notesMasters/notesMaster1.xml" Id="R4b24a4a453b942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8:00 AM. Keep this slide on screen while participants join. Confirm that everyone has the project folder and can open index.html in a browser.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8:00–8:03 AM. Walk through the schedule. Explain that each concept leads directly to the guided build. Protect the 10:55 AM hands-on start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participants, introduce yourself, and confirm audio and screen visibility. Ask for a Teams reaction when index.html opens successfully.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workshop method and recovery approach. Participants can continue from the supplied complete files instead of retyping missed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completed Dino Run project. Play once and name only the visible features. Avoid explaining the implementation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from the demo to the browser mental model. Keep this section conceptual and use the game as the example throughout.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folder and browser side by side. Change one heading, save, and refresh. Ask which step updates the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house analogy only if needed. Ask two checks: which language changes the colour, and which language reacts to the spacebar?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 that participants see the same five files. Help anyone whose browser shows a file-not-found message before continuing.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developer tools once. Point out Elements and Console. Do not teach every panel. Show where the first red error appears.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participants to index.html. The goal is a complete game scene, not memorising many tags.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 one button element live. Point to the opening tag, content, and closing tag. Explain the id only as a unique name.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or reveal the scoreboard and game-stage structure. Refresh while it is unstyled so participants see that HTML alone still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a green reaction when the unstyled page appears. Use the complete index.html file for anyone still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 the CSS checkpoint link. Use the break to help participants reach the HTML checkpoint. Resume exactly at 9:50 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CSS section visual. Every code change should produce an obvious result after refresh.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one value at a time. Use an exaggerated width first so the selector-property-value relationship is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relative as the game boundary and absolute as exact placement inside that boundary. Avoid teaching the full CSS positioning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participants five minutes to choose one visible change. Ask one volunteer to state which selector and property they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expectations: participants do not need to memorise every line. They should understand input, state and visible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participants to press Space in the finished game. Trace the sequence from keyboard event to function to movement.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score to 100 and refresh to make the idea concrete. Explain false as a simple yes/no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code aloud as a sentence. Type only the event listener and jump function. Provide the complete gravity code rather than deriving it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Begin the guided build on time. Keep each demonstration below five minutes, then pause for participants to reproduce the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reaction check after every stage. If fewer than two thirds are ready, distribute the next checkpoint instead of extending the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purpose of rectangle overlap. Do not derive all four comparisons unless the group asks. Use the finished function as a provided block.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one deliberate typo if time allows. Ask the group to identify the error from the console before you fix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two or three participants to share. Keep each share to two minutes and ask one specific follow-up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 participants quickly. Celebrate a clear explanation and a working change. Avoid turning sharing into another debugging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 about the concepts and the project. Park questions that require new libraries or a large feature so the closing stays on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only if the room is quiet. Answer briefly and point back to a file or function in the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 the attendance and feedback links. Remind participants where to download the project. End at 12:00 PM.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f01417f3a847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7ca93df12547fd" /><Relationship Type="http://schemas.openxmlformats.org/officeDocument/2006/relationships/slideLayout" Target="/ppt/slideLayouts/slideLayout1.xml" Id="R97145eb973e94a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145eb973e94a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897b03cd94d79" /><Relationship Type="http://schemas.openxmlformats.org/officeDocument/2006/relationships/image" Target="/ppt/media/image.png" Id="Re7db41e6d8f54ac3" /><Relationship Type="http://schemas.openxmlformats.org/officeDocument/2006/relationships/notesSlide" Target="/ppt/notesSlides/notesSlide1.xml" Id="R123422f43d0444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2a6a6037b4e88" /><Relationship Type="http://schemas.openxmlformats.org/officeDocument/2006/relationships/notesSlide" Target="/ppt/notesSlides/notesSlide2.xml" Id="R1ad89ed9679a4b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d8ee81d014435" /><Relationship Type="http://schemas.openxmlformats.org/officeDocument/2006/relationships/notesSlide" Target="/ppt/notesSlides/notesSlide3.xml" Id="Rb7989482ff254c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f84c1e4e44280" /><Relationship Type="http://schemas.openxmlformats.org/officeDocument/2006/relationships/notesSlide" Target="/ppt/notesSlides/notesSlide4.xml" Id="Rc1507ee5d7774f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dd60a5d7c4caa" /><Relationship Type="http://schemas.openxmlformats.org/officeDocument/2006/relationships/image" Target="/ppt/media/image2.png" Id="R9cadc28cae074a62" /><Relationship Type="http://schemas.openxmlformats.org/officeDocument/2006/relationships/image" Target="/ppt/media/image.svg" Id="R897b5322c7984ded" /><Relationship Type="http://schemas.openxmlformats.org/officeDocument/2006/relationships/notesSlide" Target="/ppt/notesSlides/notesSlide5.xml" Id="R5c92589147b940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b34fa043e4b60" /><Relationship Type="http://schemas.openxmlformats.org/officeDocument/2006/relationships/notesSlide" Target="/ppt/notesSlides/notesSlide6.xml" Id="R2380103b1e494e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3babb09c840bd" /><Relationship Type="http://schemas.openxmlformats.org/officeDocument/2006/relationships/notesSlide" Target="/ppt/notesSlides/notesSlide7.xml" Id="R4ccab0a7572f49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656199e2e4f57" /><Relationship Type="http://schemas.openxmlformats.org/officeDocument/2006/relationships/notesSlide" Target="/ppt/notesSlides/notesSlide8.xml" Id="Rc091ca48d47b4b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6c93fda3d4e90" /><Relationship Type="http://schemas.openxmlformats.org/officeDocument/2006/relationships/notesSlide" Target="/ppt/notesSlides/notesSlide9.xml" Id="R5a86cfb29d744b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609a8dd7a4bf6" /><Relationship Type="http://schemas.openxmlformats.org/officeDocument/2006/relationships/notesSlide" Target="/ppt/notesSlides/notesSlide10.xml" Id="Rb4b235233b2a49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572c5f40d415b" /><Relationship Type="http://schemas.openxmlformats.org/officeDocument/2006/relationships/notesSlide" Target="/ppt/notesSlides/notesSlide11.xml" Id="R32adc9ad1a8a40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c2a0d91f04a41" /><Relationship Type="http://schemas.openxmlformats.org/officeDocument/2006/relationships/notesSlide" Target="/ppt/notesSlides/notesSlide12.xml" Id="Rdd2e86d0e07a48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1c0a963034cda" /><Relationship Type="http://schemas.openxmlformats.org/officeDocument/2006/relationships/notesSlide" Target="/ppt/notesSlides/notesSlide13.xml" Id="R18d17b2d097a44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78a5e43674c78" /><Relationship Type="http://schemas.openxmlformats.org/officeDocument/2006/relationships/notesSlide" Target="/ppt/notesSlides/notesSlide14.xml" Id="R6161bc26ccab48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ea12f9a7b48c1" /><Relationship Type="http://schemas.openxmlformats.org/officeDocument/2006/relationships/notesSlide" Target="/ppt/notesSlides/notesSlide15.xml" Id="Ra8a65d21b42e43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335cddcc44ef2" /><Relationship Type="http://schemas.openxmlformats.org/officeDocument/2006/relationships/notesSlide" Target="/ppt/notesSlides/notesSlide16.xml" Id="R21e450bdce574e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28138da584a2c" /><Relationship Type="http://schemas.openxmlformats.org/officeDocument/2006/relationships/notesSlide" Target="/ppt/notesSlides/notesSlide17.xml" Id="Ree3e16d7b7af40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25d8859304510" /><Relationship Type="http://schemas.openxmlformats.org/officeDocument/2006/relationships/notesSlide" Target="/ppt/notesSlides/notesSlide18.xml" Id="R44ff49b0b2024b2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650f86b794dc2" /><Relationship Type="http://schemas.openxmlformats.org/officeDocument/2006/relationships/notesSlide" Target="/ppt/notesSlides/notesSlide19.xml" Id="Rc0d0031cbcb24e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bcf527bab4583" /><Relationship Type="http://schemas.openxmlformats.org/officeDocument/2006/relationships/notesSlide" Target="/ppt/notesSlides/notesSlide20.xml" Id="R7f61b6a4dd6a45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1997e009e4360" /><Relationship Type="http://schemas.openxmlformats.org/officeDocument/2006/relationships/notesSlide" Target="/ppt/notesSlides/notesSlide21.xml" Id="R5207c3a47e684bd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aea5044dd4c01" /><Relationship Type="http://schemas.openxmlformats.org/officeDocument/2006/relationships/notesSlide" Target="/ppt/notesSlides/notesSlide22.xml" Id="R7d6fdb936ac44b5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fd9e51e634862" /><Relationship Type="http://schemas.openxmlformats.org/officeDocument/2006/relationships/notesSlide" Target="/ppt/notesSlides/notesSlide23.xml" Id="R5860875050b842b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ab9a99d41469f" /><Relationship Type="http://schemas.openxmlformats.org/officeDocument/2006/relationships/notesSlide" Target="/ppt/notesSlides/notesSlide24.xml" Id="R4c761345d4a444e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09900a57e4e8e" /><Relationship Type="http://schemas.openxmlformats.org/officeDocument/2006/relationships/notesSlide" Target="/ppt/notesSlides/notesSlide25.xml" Id="R3595609832854ed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bfb5121574d2e" /><Relationship Type="http://schemas.openxmlformats.org/officeDocument/2006/relationships/notesSlide" Target="/ppt/notesSlides/notesSlide26.xml" Id="R283994a47628418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fd4d98e76444f" /><Relationship Type="http://schemas.openxmlformats.org/officeDocument/2006/relationships/notesSlide" Target="/ppt/notesSlides/notesSlide27.xml" Id="R5533b7aa91e94af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9dc9b42d44cb8" /><Relationship Type="http://schemas.openxmlformats.org/officeDocument/2006/relationships/notesSlide" Target="/ppt/notesSlides/notesSlide28.xml" Id="R51f1868485dc47d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fb70c2fb74401" /><Relationship Type="http://schemas.openxmlformats.org/officeDocument/2006/relationships/notesSlide" Target="/ppt/notesSlides/notesSlide29.xml" Id="R3716486d3ff448f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173c96bea47b8" /><Relationship Type="http://schemas.openxmlformats.org/officeDocument/2006/relationships/notesSlide" Target="/ppt/notesSlides/notesSlide30.xml" Id="Rd8bb861d09ea4e6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e428ab36d4d3b" /><Relationship Type="http://schemas.openxmlformats.org/officeDocument/2006/relationships/notesSlide" Target="/ppt/notesSlides/notesSlide31.xml" Id="R00a969d1491e424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8c31be16a48fe" /><Relationship Type="http://schemas.openxmlformats.org/officeDocument/2006/relationships/notesSlide" Target="/ppt/notesSlides/notesSlide32.xml" Id="R7b3e571a39ec46f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b41e6d8f54ac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93FCF-C616-4D79-8357-A9F400FF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4">
              <a:alpha val="9098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06EE9-F909-45BD-8878-3BE5C34B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Dino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39704-8398-44C4-B450-6204E1EF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E8EFF4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E8EFF4"/>
                </a:solidFill>
                <a:latin typeface="Aptos"/>
                <a:ea typeface="Aptos"/>
                <a:cs typeface="Aptos"/>
              </a:rPr>
              <a:t>Web development through an offline browser 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6FB8C-7458-43AB-97F9-E586BF48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96A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1C4E7-0728-42D4-BEDA-1BD85AF9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71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0C66A"/>
                </a:solidFill>
                <a:latin typeface="Aptos"/>
                <a:ea typeface="Aptos"/>
                <a:cs typeface="Aptos"/>
              </a:rPr>
              <a:t>DevStart 2026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0C66A"/>
                </a:solidFill>
                <a:latin typeface="Aptos"/>
                <a:ea typeface="Aptos"/>
                <a:cs typeface="Aptos"/>
              </a:rPr>
              <a:t>10 October 2026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0C66A"/>
                </a:solidFill>
                <a:latin typeface="Aptos"/>
                <a:ea typeface="Aptos"/>
                <a:cs typeface="Aptos"/>
              </a:rPr>
              <a:t>8:00 AM–12:00 PM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67726-5EC9-45E3-8C97-EF36212A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HTML  ·  CSS  ·  JavaScript</a:t>
            </a:r>
          </a:p>
        </p:txBody>
      </p:sp>
    </p:spTree>
    <p:extLst>
      <p:ext uri="{BB962C8B-B14F-4D97-AF65-F5344CB8AC3E}">
        <p14:creationId xmlns:p14="http://schemas.microsoft.com/office/powerpoint/2010/main" val="1269184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B5FFA-EBDE-41A5-8272-2CDDAEC0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8:00 AM–12:00 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63BBA-1C94-41B3-B2E1-4819D50B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Program tentative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3ED2D-ED1B-426C-91CF-B76640CC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76300" y="1676400"/>
          <a:ext xmlns:a="http://schemas.openxmlformats.org/drawingml/2006/main" cx="104394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581900"/>
              </a:tblGrid>
              <a:tr h="371475">
                <a:tc>
                  <a:txBody>
                    <a:bodyPr lIns="95250" tIns="38100" rIns="95250" bIns="3810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Time</a:t>
                      </a:r>
                    </a:p>
                  </a:txBody>
                  <a:tcPr marL="91440" marR="91440" marT="45720" marB="45720" anchor="ctr">
                    <a:solidFill>
                      <a:srgbClr val="E96A47"/>
                    </a:solidFill>
                  </a:tcPr>
                </a:tc>
                <a:tc>
                  <a:txBody>
                    <a:bodyPr lIns="95250" tIns="38100" rIns="95250" bIns="3810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Agenda</a:t>
                      </a:r>
                    </a:p>
                  </a:txBody>
                  <a:tcPr marL="91440" marR="91440" marT="45720" marB="45720" anchor="ctr">
                    <a:solidFill>
                      <a:srgbClr val="E96A47"/>
                    </a:solidFill>
                  </a:tcPr>
                </a:tc>
              </a:tr>
              <a:tr h="371475">
                <a:tc>
                  <a:txBody>
                    <a:bodyPr lIns="95250" tIns="38100" rIns="95250" bIns="38100"/>
                    <a:lstStyle/>
                    <a:p>
                      <a:r>
                        <a:rPr sz="1275" b="1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8:00–8:10 AM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95250" tIns="38100" rIns="95250" bIns="38100"/>
                    <a:lstStyle/>
                    <a:p>
                      <a:r>
                        <a:rPr sz="1275" b="0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Opening and welcoming remarks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  <a:tr h="371475">
                <a:tc>
                  <a:txBody>
                    <a:bodyPr lIns="95250" tIns="38100" rIns="95250" bIns="38100"/>
                    <a:lstStyle/>
                    <a:p>
                      <a:r>
                        <a:rPr sz="1275" b="1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8:10–8:30 AM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95250" tIns="38100" rIns="95250" bIns="38100"/>
                    <a:lstStyle/>
                    <a:p>
                      <a:r>
                        <a:rPr sz="1275" b="0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DevStart 2026 overview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  <a:tr h="371475">
                <a:tc>
                  <a:txBody>
                    <a:bodyPr lIns="95250" tIns="38100" rIns="95250" bIns="38100"/>
                    <a:lstStyle/>
                    <a:p>
                      <a:r>
                        <a:rPr sz="1275" b="1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8:30–9:10 AM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95250" tIns="38100" rIns="95250" bIns="38100"/>
                    <a:lstStyle/>
                    <a:p>
                      <a:r>
                        <a:rPr sz="1275" b="0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Introduction to web development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  <a:tr h="371475">
                <a:tc>
                  <a:txBody>
                    <a:bodyPr lIns="95250" tIns="38100" rIns="95250" bIns="38100"/>
                    <a:lstStyle/>
                    <a:p>
                      <a:r>
                        <a:rPr sz="1275" b="1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9:10–9:40 AM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95250" tIns="38100" rIns="95250" bIns="38100"/>
                    <a:lstStyle/>
                    <a:p>
                      <a:r>
                        <a:rPr sz="1275" b="0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HTML fundamentals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  <a:tr h="371475">
                <a:tc>
                  <a:txBody>
                    <a:bodyPr lIns="95250" tIns="38100" rIns="95250" bIns="38100"/>
                    <a:lstStyle/>
                    <a:p>
                      <a:r>
                        <a:rPr sz="1275" b="1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9:40–9:50 AM</a:t>
                      </a:r>
                    </a:p>
                  </a:txBody>
                  <a:tcPr marL="91440" marR="91440" marT="45720" marB="45720" anchor="ctr">
                    <a:solidFill>
                      <a:srgbClr val="F5DFB2"/>
                    </a:solidFill>
                  </a:tcPr>
                </a:tc>
                <a:tc>
                  <a:txBody>
                    <a:bodyPr lIns="95250" tIns="38100" rIns="95250" bIns="38100"/>
                    <a:lstStyle/>
                    <a:p>
                      <a:r>
                        <a:rPr sz="1275" b="0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Short break</a:t>
                      </a:r>
                    </a:p>
                  </a:txBody>
                  <a:tcPr marL="91440" marR="91440" marT="45720" marB="45720" anchor="ctr">
                    <a:solidFill>
                      <a:srgbClr val="F5DFB2"/>
                    </a:solidFill>
                  </a:tcPr>
                </a:tc>
              </a:tr>
              <a:tr h="371475">
                <a:tc>
                  <a:txBody>
                    <a:bodyPr lIns="95250" tIns="38100" rIns="95250" bIns="38100"/>
                    <a:lstStyle/>
                    <a:p>
                      <a:r>
                        <a:rPr sz="1275" b="1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9:50–10:25 AM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95250" tIns="38100" rIns="95250" bIns="38100"/>
                    <a:lstStyle/>
                    <a:p>
                      <a:r>
                        <a:rPr sz="1275" b="0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CSS fundamentals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  <a:tr h="371475">
                <a:tc>
                  <a:txBody>
                    <a:bodyPr lIns="95250" tIns="38100" rIns="95250" bIns="38100"/>
                    <a:lstStyle/>
                    <a:p>
                      <a:r>
                        <a:rPr sz="1275" b="1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10:25–10:55 AM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95250" tIns="38100" rIns="95250" bIns="38100"/>
                    <a:lstStyle/>
                    <a:p>
                      <a:r>
                        <a:rPr sz="1275" b="0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JavaScript introduction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  <a:tr h="371475">
                <a:tc>
                  <a:txBody>
                    <a:bodyPr lIns="95250" tIns="38100" rIns="95250" bIns="38100"/>
                    <a:lstStyle/>
                    <a:p>
                      <a:r>
                        <a:rPr sz="1275" b="1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10:55–11:35 AM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95250" tIns="38100" rIns="95250" bIns="38100"/>
                    <a:lstStyle/>
                    <a:p>
                      <a:r>
                        <a:rPr sz="1275" b="0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Guided hands-on activity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  <a:tr h="371475">
                <a:tc>
                  <a:txBody>
                    <a:bodyPr lIns="95250" tIns="38100" rIns="95250" bIns="38100"/>
                    <a:lstStyle/>
                    <a:p>
                      <a:r>
                        <a:rPr sz="1275" b="1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11:35–11:45 AM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95250" tIns="38100" rIns="95250" bIns="38100"/>
                    <a:lstStyle/>
                    <a:p>
                      <a:r>
                        <a:rPr sz="1275" b="0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Participant sharing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  <a:tr h="371475">
                <a:tc>
                  <a:txBody>
                    <a:bodyPr lIns="95250" tIns="38100" rIns="95250" bIns="38100"/>
                    <a:lstStyle/>
                    <a:p>
                      <a:r>
                        <a:rPr sz="1275" b="1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11:45–11:55 AM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95250" tIns="38100" rIns="95250" bIns="38100"/>
                    <a:lstStyle/>
                    <a:p>
                      <a:r>
                        <a:rPr sz="1275" b="0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Q&amp;A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  <a:tr h="371475">
                <a:tc>
                  <a:txBody>
                    <a:bodyPr lIns="95250" tIns="38100" rIns="95250" bIns="38100"/>
                    <a:lstStyle/>
                    <a:p>
                      <a:r>
                        <a:rPr sz="1275" b="1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11:55 AM–12:00 PM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  <a:tc>
                  <a:txBody>
                    <a:bodyPr lIns="95250" tIns="38100" rIns="95250" bIns="38100"/>
                    <a:lstStyle/>
                    <a:p>
                      <a:r>
                        <a:rPr sz="1275" b="0">
                          <a:solidFill>
                            <a:srgbClr val="1F2A32"/>
                          </a:solidFill>
                          <a:latin typeface="Aptos"/>
                          <a:ea typeface="Aptos"/>
                          <a:cs typeface="Aptos"/>
                        </a:rPr>
                        <a:t>Attendance, feedback and closing</a:t>
                      </a:r>
                    </a:p>
                  </a:txBody>
                  <a:tcPr marL="91440" marR="91440" marT="45720" marB="45720" anchor="ctr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FBD5F-F819-47C7-BD08-7D251053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F938C-9F94-47A2-894D-3E456534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5820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8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63115-5E99-4069-A7C6-517D73C9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8:00–8:10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80E37-96CC-4F8C-A976-724AA569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Opening and welcoming remarks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FDDCE-9E57-433C-8F98-D2A9F5C0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96A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B3359-7253-493E-96D4-CB074606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D9E4E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9E4EB"/>
                </a:solidFill>
                <a:latin typeface="Aptos"/>
                <a:ea typeface="Aptos"/>
                <a:cs typeface="Aptos"/>
              </a:rPr>
              <a:t>One shared goal: every participant leaves with a browser game they can run and change locally.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F7C25-5237-4624-9152-B1F17FE4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7C7D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7D3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01F0D-6155-4F7D-81BA-2EF57937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5194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6DBD5-9F73-48C4-B68C-5A0F4855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8:10–8:30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5B7AB-B05B-426B-AEB6-58C2EC51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C87E3-BD57-44AE-A5C2-D93FE216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8A37F-BD59-427A-A0B5-3DBDDCF1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1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A first coding experience built around visible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C9CDD-CEC6-4139-8773-D7E6D56D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E1622-6DCD-4162-B5CC-64F3F706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649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Short explanations followed by a change on screen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789E0-0A8C-49CF-8584-689C3970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BE483-6E90-452F-8B9F-D9977701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649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A complete project is available when anyone falls behind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80D72-E080-4FFD-BA4D-89849E0F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5C938-3331-4F36-BEE9-AD819C88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649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Questions and experiments are part of the 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0298E-7248-4591-8442-521B3D78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571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830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A1281-F074-49EE-ABF9-C5390214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05050"/>
            <a:ext cx="190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Refresh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CD23B-63CA-4D53-A4ED-CB35C08D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The workshop rhythm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91EE1-16E3-4683-A9B6-30E4DF4A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7F9AC-2D3E-40BB-BD4A-6E44490E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9446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C1971-F52B-4EEF-B4C1-823E50B7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8:10–8:30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CE14D-E688-4FA3-A950-555F1A97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The final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73F3F-A2DD-474B-B3D5-B5268866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dc28cae074a62">
            <a:extLst>
              <a:ext uri="{96DAC541-7B7A-43D3-8B79-37D633B846F1}">
                <asvg:svgBlip xmlns:asvg="http://schemas.microsoft.com/office/drawing/2016/SVG/main" r:embed="R897b5322c7984d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96125" y="1695450"/>
            <a:ext cx="3905250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07CB9-7AA2-4497-9B9F-6EBE40FB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An offline dinosaur runner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29699-4007-4B43-95A0-3F85B063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06CEC-20E2-4D07-917C-C9ACB3AB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554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Space or ↑ makes the dinosaur jump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C695F-DC82-4F62-B4C9-1654EF69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5B9D7-4B6E-4199-878F-E94C132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554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↓ ducks under flying obstacles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BABD1-7490-403F-B207-66233A3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E3E5E-33C5-420C-A0C3-6E02022E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554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The score and speed increase during the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14B45-4C03-45E3-BC78-48CC979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20747-B6FF-4E44-A40C-B49EC345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554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A collision ends the game and enables restart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9BA62-F364-4047-92AC-85217AE6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Demo for 60 seconds, then stop. The code comes later.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F145E-1061-4CDE-8697-26B90F00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FFE36-C911-452A-853F-8885D762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6642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76B8C-035D-4EC0-ACC6-4EDD2948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8:30–9:10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24A6A-9A3C-4939-85CB-D7AC4074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Introduction to web development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C1402-9CD4-41E8-82D6-147AF29D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96A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A4AF5-0E03-48ED-946F-E47C46E5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D9E4E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9E4EB"/>
                </a:solidFill>
                <a:latin typeface="Aptos"/>
                <a:ea typeface="Aptos"/>
                <a:cs typeface="Aptos"/>
              </a:rPr>
              <a:t>The browser combines structure, appearance and behaviour into one page.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24C39-9085-4E5F-9251-AE28EDC2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7C7D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7D3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7F69D-A087-47FA-B121-4E30D036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79196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8F5CB-62CE-4FE8-ADC0-F35DFC7D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Introduction to web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DD21F-D0FF-4ECF-B8D5-5B0E9228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How a browser builds a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68DB9-DB60-43BA-86CF-EF637FC4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852E0-C434-4A04-A937-780FA9AC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04800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6A4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61803-9923-4A35-BDF6-B50AC8DF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Project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BFE78-FD0D-4DD9-8768-4F114134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2590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index.html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styles.css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app.js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62A39-C6B1-4230-AD34-C245D9C5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FBA17-2D1A-499E-8CC1-CD7724C2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304800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B8C8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62D21-D07E-4B1A-9594-62FCFE69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717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B8C8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B8C82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09B6C-CD02-438A-9364-78E34AF5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62300"/>
            <a:ext cx="2590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Reads and combines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the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A102D-3190-43EE-B99D-0FB99155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DB7C8-A3DC-4D39-9E91-F2A7EC2F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04800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5AA2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DB45F-9A55-460D-B133-1C5CEDA1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5AA2C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AA2CF"/>
                </a:solidFill>
                <a:latin typeface="Aptos"/>
                <a:ea typeface="Aptos"/>
                <a:cs typeface="Aptos"/>
              </a:rPr>
              <a:t>Web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AF60C-74B1-47CC-92D8-37AC06ED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2590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Content, design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and interaction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40115-7A2C-4A6A-BD98-600EF680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05400"/>
            <a:ext cx="720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Save the code, then refresh the browser to see the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AB7C7-6969-40EF-B4FB-DE92BDB6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324F2-AEB7-494D-B50C-D1E40337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9394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E77A3C-9CE1-4F93-97CC-617770FD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Introduction to web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90CD2-0DFE-4194-BC05-7959107E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HTML, CSS and JavaScript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B1B2E-8E9E-43A2-9B3D-BC4917E7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9AD5D-7549-4039-BA4A-EBF99DAA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3C88A-8394-4C0A-A563-C6FB4CC7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6A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07701-5D15-4E9A-93A6-D9DEC981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747CF-EE56-417C-B646-D4370447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What exists on the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BAAC0-C5BA-4910-8940-95E7DB93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heading · score · button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CE9F4-5C19-4D60-98F1-C7D55988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62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2B8C8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B8C82"/>
                </a:solidFill>
                <a:latin typeface="Aptos"/>
                <a:ea typeface="Aptos"/>
                <a:cs typeface="Aptos"/>
              </a:rPr>
              <a:t>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A60A8-4573-4E9D-8337-05BA90A6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B8C8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24056-2265-4586-B750-8EA8918A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Appearance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E6834-E73A-4500-A475-1EC43C64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290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How the page looks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9250E-E32A-4B54-A2D2-22BD82EA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colour · size · position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53D7D-5E77-4D7A-AB60-236932D9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5AA2C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5AA2CF"/>
                </a:solidFill>
                <a:latin typeface="Aptos"/>
                <a:ea typeface="Aptos"/>
                <a:cs typeface="Aptos"/>
              </a:rPr>
              <a:t>JavaScript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C8D7C-6222-4400-9E63-CD9A7EBF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AA2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0D3D9-4EB0-4B35-B99D-FC40EB18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7B224-204B-470F-8969-220A68C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What the page does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3D7C3-313B-4E0C-B34A-E88C86FF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jump · score · restart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7B82D-1FFC-4AF6-B5FF-DF2699F6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Question: which file should change the jump height?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D6CA9-C14E-4FF3-A13C-E60B88B4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888A64-059E-4731-8DD0-23D14BAB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496863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799A7-7473-4ED3-8D3B-F1719F8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Introduction to web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C4C0E-6822-4811-B7E8-CE49FDA3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The project folder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DE7FA-07BA-4D4C-9D80-FF9BE6A9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20CDA-F178-4460-9AFA-3AF86874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13233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9059B-5488-428D-84F5-8D037B83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F1500-A10E-47C8-8D42-86B5BD6E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4958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Dino Detective Basics/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├── index.html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├── styles.css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├── app.js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├── README.md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└── LICENSE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F965C-0EE1-414E-BFDB-1F57A5D4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Local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56478-01D7-40DB-B733-08BDD4E9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5EBE6-3AF2-4DA0-B482-4951C6F7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09850"/>
            <a:ext cx="421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Open the folder in a code editor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4BCD2-F06F-46A6-97E1-FF11CECF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886B1-E838-492C-BDBA-F2518C59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421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Double-click index.html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B7230-E03C-4E6E-9AEA-2F043A0F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24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701A4-0485-49C0-A7FE-AADB177D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29050"/>
            <a:ext cx="421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Keep the editor and browser 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E03D0-43E5-4D9D-B498-69A9E5B6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A6454-A54C-405E-BAFE-2261D7B3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421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Save, refresh and observe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15AEB-1755-46A1-9142-6B7ECA74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57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No React, npm or internet connection required.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D016C-2CC5-42C4-8502-38786769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26E98-B51C-42CB-8C1A-16150A04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00686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C86D8-C431-4032-9986-6587DCEF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Introduction to web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F6AE9-D1E7-4762-ACBB-12DE1E7A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The browser developer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BB893-803F-4D0B-AD73-F36BF8A7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031D4-FF47-4DE6-8CD9-8D90BD2D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When the page does not behave as expected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E0FB9-C013-4723-BB5E-FAB2153B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ECD86-2666-440D-B874-F182ED88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Describe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D4DB2-0F75-4135-ADF8-37EFED0E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What should happen?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FD9F4-DFAC-4757-ACFF-C77E2571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67C82-3AC2-472E-9541-5013C9A8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86652-CA5F-4CE7-97CA-12ADDAB5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What actually happens?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86EAB-FFE5-4068-97AB-2AD83115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FDEC4-37FB-4FCB-8619-D5961442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DA6BE-50EB-48E4-89EB-63FB3D09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767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Read the first console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54ADF-DC75-4EB7-A41B-310D55E9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9AB26-94AC-42E6-BFC6-44ABC9E6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0A486-EDDA-4BEE-A8B1-ECE20E1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Change one thing and retest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949F7-8413-4763-AA1B-A26B9DB9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3233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DC8DB-D47F-455D-8869-EBFEB7D5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BROWSER MESSAGE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A9E5B-F867-4BCB-8759-0F28F985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26860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Console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Uncaught TypeError: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Cannot read properties of null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C957B-14A3-4C84-A7D0-C72FBE4C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9105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Names, paths and brackets cause many beginner errors.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D099F-185C-4C10-AB5A-63FA47E6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BD0C0-66FB-42C8-99C3-9CE6A111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786688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0D63F-0DD6-4605-8ED9-2BA321F6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9:10–9:40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79F04-B8AA-4C2F-96AB-7506A532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HTML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3FCE3-F8C0-4AC7-9D56-F8AC3C96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96A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54FAD-6D6A-41BE-A8B9-094F366F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D9E4E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9E4EB"/>
                </a:solidFill>
                <a:latin typeface="Aptos"/>
                <a:ea typeface="Aptos"/>
                <a:cs typeface="Aptos"/>
              </a:rPr>
              <a:t>HTML names the content and gives JavaScript reliable elements to find.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88CA8-F3F0-4BDB-BCB0-7BB5993C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7C7D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7D3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3650A-0092-4CF7-9329-D35FDC30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72231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20255-94B2-4AF8-8064-DCAA6364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HTML fundamentals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D0FD0-65E1-49E0-8572-A7709AEB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HTML element anatomy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39C2E-5016-46A5-B888-7850BE5A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C16AE-C0F5-46A6-BBBD-F1CB2404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10172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233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3FCD4-4B8B-4FC2-BD4F-D6F8AD8B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98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ONE 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89B6B-57D8-4888-B23D-0C53859A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&lt;button id="start-button"&gt;Start game&lt;/button&gt;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FE545-0E58-4FB2-88AB-FEEFF986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528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6A4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76716-5565-49B7-952B-9B84BF17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Tag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7AE65-5783-482E-BD26-52CBBE88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36804-91CD-4D7B-9770-2BFE687C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8C8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2BD04-D970-4231-A5A6-C03AD6CC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2B8C8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8C82"/>
                </a:solidFill>
                <a:latin typeface="Aptos"/>
                <a:ea typeface="Aptos"/>
                <a:cs typeface="Aptos"/>
              </a:rPr>
              <a:t>Attribute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EBAE6-6829-4BE7-B491-071FEBAB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957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id="start-button"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5A11A-5DC2-4E87-9254-29AEDBAC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AA2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CFAFC-0272-4749-B463-13C1B553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5AA2C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AA2CF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AF980-9886-4F14-AB13-89518E3A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957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Start game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1543D-5E95-40DA-834A-F630228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38750"/>
            <a:ext cx="674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IDs let JavaScript find one specific element.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444CD-8479-4763-A93F-F30B0E95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47612-23A5-45FC-9CE8-D876BA46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60178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9AFC8-EBF3-4FF6-8A45-6A6FD1EE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HTML fundamentals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E56A7-5878-4EA6-B9E5-4451A2F1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The game scene in HTML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8406A-7F39-4C4A-A1DD-CFBD29D2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01E4A-B654-4759-B53B-C34020FF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5151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3233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2A014-5AD9-4551-8A8B-74ED14C3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605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INDEX.HTML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52CE5-2B92-4513-88B5-50C6467C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60579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&lt;div class="scoreboard"&gt;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Score: &lt;strong id="score"&gt;00000&lt;/strong&gt;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&lt;/div&gt;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&lt;div class="game-stage" id="game-stage"&gt;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&lt;div class="dino" id="dino"&gt;&lt;/div&gt;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&lt;div class="obstacle" id="obstacle"&gt;&lt;/div&gt;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&lt;/div&gt;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FCCEF-FBEC-4FED-A68F-C6BB0B5B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43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6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Nesting shows relationships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EDFE1-818B-4CFF-920A-A6BB0F2E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8BD5D-EF94-484C-970D-1C324CA5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The score belongs above the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BADFC-8509-4234-8768-15785035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9DDC3-3639-4203-86DE-ADA173BA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The dinosaur and obstacle live inside the stage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DB345-90D2-4767-A58B-95210031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83C88-CEA1-493C-B133-A3095159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9600"/>
            <a:ext cx="3162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Classes style groups; IDs identify one element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9E712-9156-410C-8388-C1714F8F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2E317-4AFB-42B8-B9DE-622C5AD8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845611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4987B-DD05-4DF6-8229-31662C94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HTML fundamentals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3F183-1DA9-4B8D-B0BE-E6EDC226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HTML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F5384-8122-4B29-B750-BB5A391F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D82D0-BB28-4CDF-B4D4-196AD4CA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By 9:40 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53F81-BA3A-4C53-9D1D-518E110B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The browser shows a heading, score, game area and start button.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24C78-FD82-4C4D-9E7D-4291E5C6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8B8ED-EFBD-4867-955D-497082A4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92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Change the game title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6820B-1BDC-4DF7-B001-198D2C48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F9725-005A-4383-9AE8-3B38226A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592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Add one instruction sentence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532CF-D8F5-426E-94D3-1CA79843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354F8-1707-4155-BF87-958CEBA2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592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Confirm styles.css and app.js are linked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4695D-4439-4A8E-BA46-2641D881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609850" cy="2609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C66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1AAF7-575D-4AFA-B846-635DA04D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609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9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69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2C845-DBE4-4AA0-A1E7-8259A0BF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Ready for CSS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7E2DA-8988-4B97-B465-292700FD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68A0F-45DA-4D57-B67F-619392FB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951729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8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1617B-855D-4AB6-A3F8-CD2D07AB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9:40–9:50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59FCC-99FB-4E6D-8363-A5501B93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Short 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5F6D9-69C9-4783-8FD9-09154B28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96A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7D145-F5C8-4725-8DAE-4F7E5226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D9E4E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9E4EB"/>
                </a:solidFill>
                <a:latin typeface="Aptos"/>
                <a:ea typeface="Aptos"/>
                <a:cs typeface="Aptos"/>
              </a:rPr>
              <a:t>Save every file. Return with index.html open in the browser and styles.css open in the editor.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6FE93-35D5-4B79-93C5-6E4A4BDD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7C7D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7D3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0246E-B459-4294-8FB5-CA49B67C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8894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8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86478-C4D8-4BE1-AF46-033DF955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9:50–10:25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26B45-9320-45BF-AC7C-F3145E88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CSS fundamentals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070E4-1354-4559-A96F-D3BF9146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96A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E9D2E-2358-44CD-96E7-1F2887EA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D9E4E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9E4EB"/>
                </a:solidFill>
                <a:latin typeface="Aptos"/>
                <a:ea typeface="Aptos"/>
                <a:cs typeface="Aptos"/>
              </a:rPr>
              <a:t>CSS turns the HTML structure into a readable game world.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9DFD8-897A-4800-A52D-FFEE99AC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7C7D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7D3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92D9C-7928-422F-BD58-ED999637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873510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F4E1D-8DDA-4E47-BB0C-061FC389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CSS fundamentals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FE63A-8347-4004-BEDF-3DD89D55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CSS selector anatomy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3B655-38EC-4D26-A673-7BFDBAC0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4D3A7-6E10-4D35-8DBB-CD797D02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3233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F771E-B20F-497D-8C5E-4F0DF784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7645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STYLES.CSS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EDFC8-2C07-4B9F-87E6-B43F7FCB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19350"/>
            <a:ext cx="4305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.dino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width: 54px;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height: 58px;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color: #343434;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98266-E080-42AF-9BD1-ECAB4B26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Selector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93335-B6A0-41EF-8555-B8E8CA33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.dino chooses the element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3A871-12F7-4C51-AF97-6AFC7C80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B8C8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8C82"/>
                </a:solidFill>
                <a:latin typeface="Aptos"/>
                <a:ea typeface="Aptos"/>
                <a:cs typeface="Aptos"/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9C38D-ABC1-4B2D-8405-6052B6B2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width chooses what changes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89CBB-CA64-4EE8-AD7E-292F7401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5AA2C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AA2CF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F1289-627E-474E-AEB4-2052CD8A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54px chooses the amount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E325A-778A-4BFB-B46B-437C0AC7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983EB-E47A-4B65-8DDB-84120ECD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440046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D42C2-0315-45E8-A22D-7236BAA0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CSS fundamentals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27840-6972-414D-8ABC-B6D8DDD2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Positioning the game world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C8C48-34C2-4373-B94C-67628098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A6824-8993-4636-81A8-50305C8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666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8304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62A12-0FDC-45C1-9F33-E1D5A7D0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304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C5AC0-A3E7-497A-ADF0-44F06CB5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552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E973C-2887-4E4B-8DB1-70B73E13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28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288C8-14DA-4FF5-B226-1F5B72E6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B8C8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8C82"/>
                </a:solidFill>
                <a:latin typeface="Aptos"/>
                <a:ea typeface="Aptos"/>
                <a:cs typeface="Aptos"/>
              </a:rPr>
              <a:t>dinosaur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AECB7-B887-4B3B-8C1C-4E0B4FF7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48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obstacle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44D55-07CA-452A-ADF2-3A9106A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28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game-stage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A1C64-2B6C-4F58-9644-06EBCCC3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323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A1E37-43E2-4DF2-BFC1-074D4DCB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D4483-40B0-416E-9ACA-7F6F9C86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28765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.game-stage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position: relative;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overflow: hidden;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.dino, .obstacle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position: absolute;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bottom: 31px;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CC785-0421-409F-9E26-5DDBC982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33085-1338-4386-A3F9-AF479682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358333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B90B5-1985-4D55-B985-5D803181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CSS fundamentals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CB52B-7350-4FE3-AD82-805F28DA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CSS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EA6CC-5A91-4D55-956A-BEFC8671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86639-850D-40B7-8BE3-348C9155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A visible game scene by 10:25 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9E3DE-7E31-4048-9280-14EDF055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96A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0DADA-C874-4CF4-8971-1030873B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Colour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03541-C01F-42C8-8901-785C26D6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Change the accent colour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53373-64F8-440D-AE3E-6F0695A6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2B8C8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561E0-642A-44BB-AAF1-17EC83A0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B8C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8C82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3BE5C-0AC8-4441-96D6-732C7048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Change the dinosaur size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C13D5-24E3-4196-BFD6-794B3685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5AA2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6D7CF-1935-472C-B1CB-6B575B9C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5AA2C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AA2CF"/>
                </a:solidFill>
                <a:latin typeface="Aptos"/>
                <a:ea typeface="Aptos"/>
                <a:cs typeface="Aptos"/>
              </a:rPr>
              <a:t>Scene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EE976-28C4-4AAD-8623-8AB24D83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Move one cloud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5FA2D-51F7-40DF-89B2-E4BBDAB5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Choose one change. Save and refresh before trying another.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929C7-0FEE-4CDE-9636-33BBF537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3DD33-BAD1-4B5B-BCDD-8E73046C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033980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8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60A30-2DFE-4B34-8488-4F1E64A8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10:25–10:55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37045-7FD7-4E50-828C-926A3BD8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JavaScript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B0725-E9F8-4059-B56C-B8A21144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96A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0EE4F-6C46-48DF-8B74-F202DBAD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D9E4E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9E4EB"/>
                </a:solidFill>
                <a:latin typeface="Aptos"/>
                <a:ea typeface="Aptos"/>
                <a:cs typeface="Aptos"/>
              </a:rPr>
              <a:t>JavaScript listens for input, updates the game state and changes what the browser displays.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8A712-626F-4C79-9433-CC591E1A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7C7D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7D3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8A7CE-2B7F-4C7B-8594-70036E31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412781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F302C-257C-4A7D-8155-7928FC45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JavaScript 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80CB2-9ACA-4B7A-8819-A65C4574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JavaScript responds to events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E598E-0C81-4FED-8467-B7245D8B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1A99D-BB50-4D6B-A2BD-733D58BA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76225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6A4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38451-50AC-4E6E-AB96-D9AB5E03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B7CE1-0A8A-4A32-A1A1-0F8D3566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3044"/>
                </a:solidFill>
                <a:latin typeface="Aptos"/>
                <a:ea typeface="Aptos"/>
                <a:cs typeface="Aptos"/>
              </a:rPr>
              <a:t>Space key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113B6-379E-4D44-A138-1ECF6D89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099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C29F3-E5E3-4313-AF54-7FD210A5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76225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B8C8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FC26A-F80D-46CD-8078-1D0385DE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241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B8C8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B8C82"/>
                </a:solidFill>
                <a:latin typeface="Aptos"/>
                <a:ea typeface="Aptos"/>
                <a:cs typeface="Aptos"/>
              </a:rPr>
              <a:t>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A7878-8C1A-463D-BD1A-C1ACB090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147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3044"/>
                </a:solidFill>
                <a:latin typeface="Aptos"/>
                <a:ea typeface="Aptos"/>
                <a:cs typeface="Aptos"/>
              </a:rPr>
              <a:t>jump()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06125-739C-4EF3-A284-A2FA22E0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099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B62AF-B42C-4A7D-BC02-E7B981A6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76225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5AA2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C1B89-3AF8-4E92-8925-3AE624B5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5AA2C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AA2CF"/>
                </a:solidFill>
                <a:latin typeface="Aptos"/>
                <a:ea typeface="Aptos"/>
                <a:cs typeface="Aptos"/>
              </a:rPr>
              <a:t>Visible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4BF79-8CFB-4B0A-9C7B-14692600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147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3044"/>
                </a:solidFill>
                <a:latin typeface="Aptos"/>
                <a:ea typeface="Aptos"/>
                <a:cs typeface="Aptos"/>
              </a:rPr>
              <a:t>Dinosaur moves 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205A4-54F2-4B38-A9D0-A16CCD28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An event starts the chain.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C7D0D-5FDC-41E7-AA66-16F93EBF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A8A01-C2E5-40BD-9908-196AD14B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914785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7F423-3DA7-4684-8AA1-751DE06C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JavaScript 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CE3EA-2329-437F-A7DF-6B67FF0F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Variables remember game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718EA-0D76-4F40-97A6-2BC73900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35BB0-E35B-46F7-9FC2-FD804541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6863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3233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E47AF-EF6F-4E66-8535-1CE3BC7C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GAME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EADE0-F239-4B21-A042-BF633666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2291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let score = 0;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let jumping = false;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let speed = 340;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36BC5-8710-4FE4-94B3-8DD0C888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27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A variable has a name and a current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3DDA9-2502-4732-8111-5094E140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146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B8C8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8C82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8DB3C-AD20-476D-9831-63B20250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changes during every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BEE2A-B184-4FD9-836F-EC19B246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B8C8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8C82"/>
                </a:solidFill>
                <a:latin typeface="Aptos"/>
                <a:ea typeface="Aptos"/>
                <a:cs typeface="Aptos"/>
              </a:rPr>
              <a:t>jumping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240FD-83E9-4511-BBF9-4024F9C9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385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prevents a second jump in the 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BC1B2-4288-48B4-9EBE-D4167F63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624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B8C8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8C82"/>
                </a:solidFill>
                <a:latin typeface="Aptos"/>
                <a:ea typeface="Aptos"/>
                <a:cs typeface="Aptos"/>
              </a:rPr>
              <a:t>speed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BA5FB-4A5C-41BC-869A-017AF506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624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makes obstacles move faster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3992F-82B2-4069-9B87-6E170C83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58822-FD6E-4FD5-A7B6-10418E2D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984720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CFB1CF-4737-4D85-9E60-2F9F41FF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JavaScript 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63D36-BD0D-423D-970F-16EECA42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The jump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8990A-2457-4386-8128-3CC336AA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1F08F-FBBC-40D5-B3AF-079F1E65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858000" cy="3981450"/>
          </a:xfrm>
          <a:prstGeom xmlns:a="http://schemas.openxmlformats.org/drawingml/2006/main" prst="roundRect">
            <a:avLst>
              <a:gd name="adj" fmla="val 2871"/>
            </a:avLst>
          </a:prstGeom>
          <a:solidFill xmlns:a="http://schemas.openxmlformats.org/drawingml/2006/main">
            <a:srgbClr val="13233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0B702-7421-4D12-908E-502A6C0E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APP.JS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1BB68-C4AE-47F2-9ABB-D61326D1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4008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document.addEventListener("keydown", (event) =&gt;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if (event.code === "Space")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  jump();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function jump()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  jumpVelocity = 780;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81905-3D80-44FB-BFE9-C470E05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Read it in plain language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06B5B-B5B9-4037-BF01-B0E6423E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E9D5B-9CB9-43F5-98D4-642029E5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Listen for a key press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61BCC-01EB-451B-A642-EC558057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C3039-E5D6-4133-BBBA-16C7429D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Check whether the key is 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390FA-D434-49E5-B723-01F20FFF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76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A39F5-8BB5-4BD2-9CC0-D5251C7E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Run the jump function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7EBD9-D222-4FEA-8F7E-F22A77EC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05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9E1F5-2C80-4EF3-80E2-62DA0F2F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1010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Give the dinosaur upward speed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911DA-E209-4253-A22A-79D12ABF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1C430-08C3-423B-AE59-5C62DE79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35830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8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C4C06-C313-4C08-A599-7A2A35EA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10:55–11:35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B8187-9EC3-46D0-8E63-1BB175C3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Guided hands-on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D06F6-88C4-499D-B8B0-50DB6E13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96A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CB1A9-631E-4809-8706-C0570A25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D9E4E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9E4EB"/>
                </a:solidFill>
                <a:latin typeface="Aptos"/>
                <a:ea typeface="Aptos"/>
                <a:cs typeface="Aptos"/>
              </a:rPr>
              <a:t>The group combines the three files into one playable runner, using checkpoints whenever needed.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AF9CE-062C-4531-9F8A-134852F8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7C7D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7D3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0050A-A82B-4065-94A8-E8EE223B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309277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9CCA96-2B98-4CFC-BBE1-7A808EE1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10:55–11:35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C7CE5-D1ED-4795-A4A4-40FF759F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Guided build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631E8-F48D-4B23-AE7A-BEFF067F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44DCF-E89C-42F6-A4E1-1EAD8BA8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10:55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64A87-A9F0-44C2-9DA1-88291DF7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66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D990F-6867-4197-9379-041775F3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193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8CA0A-3ACD-449D-A873-CDC8A1A2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907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18D9B-776A-4401-B30B-50B917F1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Button starts the game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9597A-4C74-493A-BAFB-F7E5E6AE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11:03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D4837-5816-4A86-99A8-E6D63E42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8E7B5-8D65-493C-A96C-51AB4C1E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57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71FB1-77A6-4AE9-8156-5CE69B89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289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Jump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2DC88-57BA-44DF-A0D8-A16DFC4D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Space changes vertical speed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7A920-5F69-4E22-9708-49FABF26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11:12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8018A-CF3C-44AA-9714-855832A2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FE958-06C6-4A35-AD8E-B79D0CE0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957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3F349-F917-4776-9F9D-6E67FC9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67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Move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A525D-BFC8-400A-9326-E194C427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Obstacle travels left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97A4D-437F-418D-9F4D-C98A8BC7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11:21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A42AF-F03D-4CC5-9C79-7F12FE9A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8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DE756-EE93-4E76-A084-75F5FE44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D4E4EA-7F48-4200-BA52-86F3868E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05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Collide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E526E7-CCFA-4B46-8C05-4BC9A8CA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Overlap ends the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8B4D8-FBEF-4EB5-A12F-362C0FCA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11:30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1A4142-0273-43F0-A039-CF853090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CC87F4-C67D-4F8A-9195-67B1F684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435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Finish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24E664-7B93-4C59-A800-008BB9B3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625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Score and restart work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D36798-780F-4146-B457-F4D7CDFB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D73320-B1F1-404C-BC4E-4128B459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495055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9E91F-A9D7-4261-84DB-019E9E19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Guided hands-on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91B42-20F6-42D2-A49E-C9966972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Obstacle movement and collision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AA5B7-41D0-46A9-9D0F-17FE2047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225BE-050D-4479-B5D2-923C72CB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Movement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4F217-431D-4CC7-B0D9-8BA0AD7C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Each frame subtracts a small amount from the obstacle’s horizontal position.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4D355-8476-43DC-B7BE-43DC8B89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233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75D1A-3801-4875-B4F6-125CF3CB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7ED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DF2"/>
                </a:solidFill>
                <a:latin typeface="Aptos"/>
                <a:ea typeface="Aptos"/>
                <a:cs typeface="Aptos"/>
              </a:rPr>
              <a:t>obstacleX -= speed * deltaSeconds;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BE01B-CC95-436E-9D6F-CCF82131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B8C8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B8C82"/>
                </a:solidFill>
                <a:latin typeface="Aptos"/>
                <a:ea typeface="Aptos"/>
                <a:cs typeface="Aptos"/>
              </a:rPr>
              <a:t>Collision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E9DD6-B38D-46C0-B538-4D9CF1DA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The game ends when the dinosaur rectangle overlaps the obstacle rectangle.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2D144-705C-4397-B2DC-861372E8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B8C82">
              <a:alpha val="21961"/>
            </a:srgbClr>
          </a:solidFill>
          <a:ln xmlns:a="http://schemas.openxmlformats.org/drawingml/2006/main" w="9525">
            <a:solidFill>
              <a:srgbClr val="2B8C8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64E81-4458-4AC9-B758-6E6583E4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1619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6A47">
              <a:alpha val="25098"/>
            </a:srgbClr>
          </a:solidFill>
          <a:ln xmlns:a="http://schemas.openxmlformats.org/drawingml/2006/main" w="9525">
            <a:solidFill>
              <a:srgbClr val="E96A4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B898C-F92A-4DE6-94FC-47711AA1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43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overlap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A20C5-82B9-4563-ACC7-EF5D9186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B95D3-8E34-45E4-A902-1CD6C116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649987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32BDB-2847-4427-9256-7C33F604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Guided hands-on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7F815-0535-4EA0-A0B8-824FB93E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Debugging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08F8B-AA72-4725-A050-8929E9C9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26B7D-6B63-4C5B-8EE8-F1BDF44D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D0419-65D8-45D4-A88F-DAD412C1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Expected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5CCAC-B394-4FCD-94BC-277A5E94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Dinosaur jumps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A9DEC-7DF5-4826-A0A9-5D0E1B12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43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AF475-C166-47D3-ADB8-2B8E823C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Actual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A1761-B66F-483E-A65D-4F44940A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7660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Nothing moves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1BDBF-89DD-41F3-996C-25FED332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43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437EA-C795-4723-B8E5-F4E9AFA7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Console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2D38B-C37A-4F62-BEDC-B3FC2E85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Read first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63709-57E7-4A0C-9189-50E42F29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7D74F-B637-45C8-B8DA-D1BDACB8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241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One fix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74C4A-197D-40C3-AED4-52804D77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Retest the page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31FA5-A2B4-47D5-A85F-F7A783C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3D1B6-608F-454F-9762-9B884D09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Common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D2744-B93D-42D7-AB9F-CF1650C7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244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3044"/>
                </a:solidFill>
                <a:latin typeface="Aptos"/>
                <a:ea typeface="Aptos"/>
                <a:cs typeface="Aptos"/>
              </a:rPr>
              <a:t>File name   ·   selector spelling   ·   brackets   ·   save and refresh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7C32FA-A752-43E7-B975-11CAB1A0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70099-89B2-4930-8CBA-2D51640D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31529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8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039C6-97CC-420A-B4A9-F335C416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11:35–11:45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22915-7EFF-45CA-BEFF-04825163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Participant sharing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A06CE-E82A-4AE9-94B3-FC2B5630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96A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74686-8305-4DD5-B6BB-77D71334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D9E4E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9E4EB"/>
                </a:solidFill>
                <a:latin typeface="Aptos"/>
                <a:ea typeface="Aptos"/>
                <a:cs typeface="Aptos"/>
              </a:rPr>
              <a:t>A useful explanation matters more than a polished game.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A129E-9810-49D0-91A6-1F5B5017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7C7D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7D3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580AB-8135-4E1F-A088-893F7D8F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9901313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3772D-64BF-45E0-B526-369AF6B7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11:35–11:45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BA6F3-826D-427A-A0C1-27A81219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Participant sharing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806B7-2BA6-423A-9A7E-4D7FFA53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53E1C-3B5A-4526-B883-FE8A112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Show one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40870-17D7-4AB6-829F-0B295A72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DA77D-F511-47D0-87DA-ACB820A9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What did you change?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BE59F-FCC6-440B-B0E5-6DC71BBF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9D8CA-6660-48F8-9B1C-363452B2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Which file did you edit?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0B5A4-B8D9-4FDB-89D0-E09B3126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564DE-9185-42E9-B256-CB8C33EB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What happened after you refreshed?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4CC7D-9563-4080-B766-E4CBFF74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C8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90949-0A55-4638-B512-78F772F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What would you add next?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26B7D-9160-46B6-BC09-A6F5A028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3257550" cy="2609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1830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C0AD9-9BC6-4D57-A42F-B3F8878C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90800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2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F98D1-46BD-48FA-99C8-B6428A0C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 participant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24095-9A44-4CF3-8201-2D819D1E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C6887-74BA-470E-94C8-8C9BA4F8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8484882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8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7C0AC-B245-4433-8F3B-D16BEAA4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11:45–11:55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707D4-40A4-488A-AFEA-B686A09B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782AE-3AC2-4EE2-B50C-538D1ABF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96A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F96B6-581C-456E-9B65-ADA6D74C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D9E4E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9E4EB"/>
                </a:solidFill>
                <a:latin typeface="Aptos"/>
                <a:ea typeface="Aptos"/>
                <a:cs typeface="Aptos"/>
              </a:rPr>
              <a:t>Use the final ten minutes to clear blockers and connect today’s project to the next learning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5B682-1301-4355-9961-951716DE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7C7D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7D3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15494-514A-43B8-9B9B-3FB144C4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5048501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6F4F5-F9F3-44FB-982F-6F8F9CCC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11:45–11:55 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A9CED-0047-4EA5-BE84-9F37768E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830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3044"/>
                </a:solidFill>
                <a:latin typeface="Aptos"/>
                <a:ea typeface="Aptos"/>
                <a:cs typeface="Aptos"/>
              </a:rPr>
              <a:t>Common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FDB4F-5CF7-4C08-A2F5-53694AD6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C6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12B2E-2D98-4683-803A-8E23C644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Why no React?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F091F-8503-4B39-89E6-F566D89C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The browser basics stay visible in three 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5D4CA-D972-4A7F-AE4C-36D9576C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D359A-FE08-4646-B394-ED168E2B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Can it work offline?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4A428-3832-4A9B-B795-D785B0E3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Yes. The game uses only local HTML, CSS and JavaScript.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D9A55-B349-4E46-A0DF-EB4E5F98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93C96-EFCF-406D-B9A7-FED3D805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How do I add features?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913EA-664A-447D-BA67-B29FB202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576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Change one behaviour, test it, then continue.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B8493-F9D8-4B4A-A736-380F9668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18C8E-FA8F-4717-BF54-28FF7F12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Where should I learn next?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F9320-49AE-4746-AD8B-CF66395B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910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F2A3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A32"/>
                </a:solidFill>
                <a:latin typeface="Aptos"/>
                <a:ea typeface="Aptos"/>
                <a:cs typeface="Aptos"/>
              </a:rPr>
              <a:t>Build another small page before adding a framework.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84A27-6795-4B46-803E-37F3C168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6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97FAD-1ABB-43C2-9BCB-D662A294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40622-54F8-4286-BE84-9F7DADE0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96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A47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4497260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8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00D14-13CD-4237-907C-ED8EBBD1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11:55 AM–12:00 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F19B9-8835-42E8-8BF3-3085D8C6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14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Attendance, feedback and closing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8D21E-6AF2-4258-B5D3-EBD126C1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9385B-46F4-479A-A0F8-01C452BA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754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E8EF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8EFF4"/>
                </a:solidFill>
                <a:latin typeface="Aptos"/>
                <a:ea typeface="Aptos"/>
                <a:cs typeface="Aptos"/>
              </a:rPr>
              <a:t>Complete the attendance 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8F68B-F303-419C-A810-F30E092A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DD2E3-2247-4253-8240-477F2D68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754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E8EF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8EFF4"/>
                </a:solidFill>
                <a:latin typeface="Aptos"/>
                <a:ea typeface="Aptos"/>
                <a:cs typeface="Aptos"/>
              </a:rPr>
              <a:t>Submit the workshop 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3A741-9C89-46E9-9F40-494F574F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A4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BAFCC-5F8C-4127-90EE-E4815B91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754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E8EF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8EFF4"/>
                </a:solidFill>
                <a:latin typeface="Aptos"/>
                <a:ea typeface="Aptos"/>
                <a:cs typeface="Aptos"/>
              </a:rPr>
              <a:t>Keep the project and change one feature within 48 hours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95B4A-8D83-43C4-997C-7DCBEE04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96A4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E2B4F-6676-4B12-A2F6-4100752F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E6B70-B65A-4C33-B309-8786C4DD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B7C7D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7D3"/>
                </a:solidFill>
                <a:latin typeface="Aptos"/>
                <a:ea typeface="Aptos"/>
                <a:cs typeface="Aptos"/>
              </a:rPr>
              <a:t>DevStart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95975-9308-4C7A-96CE-B17B0D4B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F0C6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66A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492181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2026-10-08T13:57:47.8540000Z</dcterms:created>
  <dcterms:modified xsi:type="dcterms:W3CDTF">2026-10-08T13:57:47.8540000Z</dcterms:modified>
</coreProperties>
</file>